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9" r:id="rId2"/>
    <p:sldId id="277" r:id="rId3"/>
    <p:sldId id="261" r:id="rId4"/>
    <p:sldId id="263" r:id="rId5"/>
    <p:sldId id="265" r:id="rId6"/>
    <p:sldId id="268" r:id="rId7"/>
    <p:sldId id="266" r:id="rId8"/>
    <p:sldId id="269" r:id="rId9"/>
    <p:sldId id="270" r:id="rId10"/>
    <p:sldId id="271" r:id="rId11"/>
    <p:sldId id="272" r:id="rId12"/>
    <p:sldId id="274" r:id="rId13"/>
    <p:sldId id="275" r:id="rId14"/>
    <p:sldId id="276" r:id="rId15"/>
    <p:sldId id="278" r:id="rId16"/>
    <p:sldId id="279" r:id="rId17"/>
    <p:sldId id="280" r:id="rId18"/>
    <p:sldId id="281" r:id="rId19"/>
    <p:sldId id="282" r:id="rId20"/>
    <p:sldId id="28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6585FB-887D-40AA-BA07-E8468D1B6AD9}" v="4" dt="2026-08-13T05:44:48.0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THU PANDI C" userId="f849b643c420eba7" providerId="LiveId" clId="{98EFC9E7-ED62-43CD-A92B-D220E98355E6}"/>
    <pc:docChg chg="custSel modSld">
      <pc:chgData name="MUTHU PANDI C" userId="f849b643c420eba7" providerId="LiveId" clId="{98EFC9E7-ED62-43CD-A92B-D220E98355E6}" dt="2026-08-13T05:44:52.017" v="97" actId="2711"/>
      <pc:docMkLst>
        <pc:docMk/>
      </pc:docMkLst>
      <pc:sldChg chg="modSp mod">
        <pc:chgData name="MUTHU PANDI C" userId="f849b643c420eba7" providerId="LiveId" clId="{98EFC9E7-ED62-43CD-A92B-D220E98355E6}" dt="2026-08-13T05:44:52.017" v="97" actId="2711"/>
        <pc:sldMkLst>
          <pc:docMk/>
          <pc:sldMk cId="0" sldId="259"/>
        </pc:sldMkLst>
        <pc:graphicFrameChg chg="mod modGraphic">
          <ac:chgData name="MUTHU PANDI C" userId="f849b643c420eba7" providerId="LiveId" clId="{98EFC9E7-ED62-43CD-A92B-D220E98355E6}" dt="2026-08-13T05:44:52.017" v="97" actId="2711"/>
          <ac:graphicFrameMkLst>
            <pc:docMk/>
            <pc:sldMk cId="0" sldId="259"/>
            <ac:graphicFrameMk id="9" creationId="{A357436E-DA12-B1EF-A8BD-E2390B9CE47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F1C622-1053-45FE-8C43-A625FA44C01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A9605A-46F8-4EB6-9CA9-3FC2CCC6B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465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53F03-F069-4EAB-1E94-9E55D4A363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95E692-A068-AFFC-AD3A-AF1C986C2A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E5340-969B-2318-B6CB-B17F5BF03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824-8FC8-4C2A-A709-3B9A684ED05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75EA1-8785-C12D-E2D2-595FE42EF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ADD5E-463B-721E-2995-A8DBF55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56304-40B1-4AEF-AFB0-EEFB4B99F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624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78B79-4F18-31E1-560E-A4F659DF3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9D365-9280-1DCD-5DF2-AB4C46C4F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A3C15-31BF-E73D-155A-59D28AC94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824-8FC8-4C2A-A709-3B9A684ED05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BBAE3-4BAB-E982-C75D-784F852DA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13A5E-83EA-4B02-7040-6CAB26E2B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56304-40B1-4AEF-AFB0-EEFB4B99F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034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02B20-2EAC-5DEB-D6D3-836A14BC9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F0F79-B5BC-9B1D-D019-D6572F16A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10817-44EE-E5DE-0098-82FB651FB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824-8FC8-4C2A-A709-3B9A684ED05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6A551-6B17-34CE-AAE9-CCB44C334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E31B3-FC9C-329A-BF4D-1D565309C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56304-40B1-4AEF-AFB0-EEFB4B99F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732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0056F-17CD-E43E-DED2-6364E47EF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9C503-B340-A1FB-C895-F9E9B359D2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AC8A06-4CE4-C462-2630-898D5577D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CFF04-F51F-74B3-14E5-39D331008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824-8FC8-4C2A-A709-3B9A684ED05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6A1C5-C4B2-ACFC-896D-2DD8363DB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58BAA-4831-4A9F-1A21-23EB83ABD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56304-40B1-4AEF-AFB0-EEFB4B99F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56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9D12C-017C-535E-3344-ACBC3B1CD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FC5A4-24E6-3589-2E16-E7C4C228C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AC897-DB0D-84ED-2726-B9209A2D0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7DE49A-66F1-9A37-1505-6FBB116E5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55384A-A3E6-FB40-19A0-B3B75961CA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BA6C3F-7CF0-E055-545A-E1ED91575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824-8FC8-4C2A-A709-3B9A684ED05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053862-39D4-D06C-4702-EAC2C1C54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9590E4-A01F-D1C4-88C4-4DD13894C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56304-40B1-4AEF-AFB0-EEFB4B99F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86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E421A-6F4A-CF70-5658-689E19B98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F266FF-AEAD-CF24-A832-7254CE423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824-8FC8-4C2A-A709-3B9A684ED05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8051D8-C7D6-8C36-C78F-4EA57FA79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96CC9E-8ED7-0F27-A764-D78F35619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56304-40B1-4AEF-AFB0-EEFB4B99F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958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EE6C42-E92F-47F4-E262-420B1342E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824-8FC8-4C2A-A709-3B9A684ED05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16977C-F1FB-50F2-A9CD-3085B6F58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A68F7-ADDE-0BBC-6D52-CD1768F3E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56304-40B1-4AEF-AFB0-EEFB4B99F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701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C9118-8675-1BB4-47E9-21C2D1B2A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7F4E0-3F53-E768-6EDB-90BA442CF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769E7-F9B0-C35B-61C6-EDD1CF27F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71508-99DD-04B3-1992-91FCCB9B0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824-8FC8-4C2A-A709-3B9A684ED05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8EC13-7DE5-F30E-3EA1-0A1C9204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69DD8-E701-EF5E-9AAD-B9B73829B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56304-40B1-4AEF-AFB0-EEFB4B99F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081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B9473-AEF6-0044-0259-39E16F69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890653-E358-10AC-B549-1564143269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B0F281-6C8D-FBA5-EAD7-4CA446267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B28E8-5549-CE59-3E17-C47919B73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824-8FC8-4C2A-A709-3B9A684ED05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6C692-12D5-67E7-E506-93F1D2105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F9989-7D1A-C047-BBEA-0B8372609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56304-40B1-4AEF-AFB0-EEFB4B99F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90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EACF8-58B5-D194-C493-E7515362B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65A2F-9607-CB76-0897-AE2F11A35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83DD8-2482-3F12-3C6D-14A65BE64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824-8FC8-4C2A-A709-3B9A684ED05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C1D06-6158-1472-5C23-5E3CB93A0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E3867-B09E-E67C-8C57-E6FAE3CF6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56304-40B1-4AEF-AFB0-EEFB4B99F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186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7300F0-63F0-61F6-E885-1EB11DA3D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D6610-4211-0EBA-2ABA-CC4473401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E65D6-C624-8BA6-AE10-872D33B9E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B824-8FC8-4C2A-A709-3B9A684ED05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A5C1F-61F3-5523-A32F-842D42FB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E7DC6-4177-DCCF-1767-E885F36B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56304-40B1-4AEF-AFB0-EEFB4B99F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15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1743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7E01B5-CA2B-41B0-AEF9-68413A7A2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A1616-D046-B46A-E71B-4233C8BAD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9EFDC-0006-E123-A5D7-9018A5C59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2B824-8FC8-4C2A-A709-3B9A684ED05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FEE18-3BF7-0026-1109-25E1DD9DC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79F57-EE9F-48E4-C791-7A526F7FA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956304-40B1-4AEF-AFB0-EEFB4B99F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323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25932" y="2268877"/>
            <a:ext cx="8604578" cy="24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endParaRPr lang="en-US" sz="3708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36C49EF-4F8D-AC72-C3BF-0E7FF3598A20}"/>
              </a:ext>
            </a:extLst>
          </p:cNvPr>
          <p:cNvSpPr>
            <a:spLocks noGrp="1"/>
          </p:cNvSpPr>
          <p:nvPr/>
        </p:nvSpPr>
        <p:spPr>
          <a:xfrm>
            <a:off x="1252728" y="3937046"/>
            <a:ext cx="9729216" cy="2002685"/>
          </a:xfrm>
          <a:prstGeom prst="rect">
            <a:avLst/>
          </a:prstGeom>
        </p:spPr>
        <p:txBody>
          <a:bodyPr vert="horz" lIns="76200" tIns="38100" rIns="76200" bIns="3810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  <a:spcBef>
                <a:spcPts val="0"/>
              </a:spcBef>
              <a:buSzPts val="1400"/>
            </a:pPr>
            <a:r>
              <a:rPr lang="en-US" sz="3167" dirty="0">
                <a:solidFill>
                  <a:schemeClr val="bg2">
                    <a:lumMod val="10000"/>
                  </a:schemeClr>
                </a:solidFill>
                <a:latin typeface="Berlin Sans FB Demi" panose="020E0802020502020306" pitchFamily="34" charset="0"/>
              </a:rPr>
              <a:t>                     </a:t>
            </a:r>
          </a:p>
          <a:p>
            <a:pPr>
              <a:lnSpc>
                <a:spcPct val="115000"/>
              </a:lnSpc>
              <a:spcBef>
                <a:spcPts val="0"/>
              </a:spcBef>
              <a:buSzPts val="1400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                                                                                                                             </a:t>
            </a:r>
            <a:r>
              <a:rPr lang="en-IN" sz="2300" b="1" dirty="0">
                <a:solidFill>
                  <a:schemeClr val="bg2">
                    <a:lumMod val="10000"/>
                  </a:schemeClr>
                </a:solidFill>
                <a:latin typeface="Berlin Sans FB Demi" panose="020E0802020502020306" pitchFamily="34" charset="0"/>
              </a:rPr>
              <a:t>Summited by:</a:t>
            </a:r>
          </a:p>
          <a:p>
            <a:pPr>
              <a:lnSpc>
                <a:spcPct val="115000"/>
              </a:lnSpc>
              <a:spcBef>
                <a:spcPts val="0"/>
              </a:spcBef>
              <a:buSzPts val="1400"/>
            </a:pP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SzPts val="1400"/>
            </a:pPr>
            <a:r>
              <a:rPr lang="en-US" sz="3500" dirty="0">
                <a:solidFill>
                  <a:schemeClr val="bg2">
                    <a:lumMod val="10000"/>
                  </a:schemeClr>
                </a:solidFill>
                <a:latin typeface="Britannic Bold" panose="020B0903060703020204" pitchFamily="34" charset="0"/>
              </a:rPr>
              <a:t>                                                                        </a:t>
            </a:r>
          </a:p>
          <a:p>
            <a:endParaRPr lang="en-IN" sz="2000" dirty="0"/>
          </a:p>
        </p:txBody>
      </p:sp>
      <p:pic>
        <p:nvPicPr>
          <p:cNvPr id="7" name="Google Shape;283;p1">
            <a:extLst>
              <a:ext uri="{FF2B5EF4-FFF2-40B4-BE49-F238E27FC236}">
                <a16:creationId xmlns:a16="http://schemas.microsoft.com/office/drawing/2014/main" id="{A1EC866D-C68D-10E8-5004-4477303726D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3009" y="918268"/>
            <a:ext cx="7016908" cy="90512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6438C8F2-CD1C-2DA3-0826-11C608EADE72}"/>
              </a:ext>
            </a:extLst>
          </p:cNvPr>
          <p:cNvSpPr txBox="1"/>
          <p:nvPr/>
        </p:nvSpPr>
        <p:spPr>
          <a:xfrm>
            <a:off x="1541405" y="4423678"/>
            <a:ext cx="2769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Berlin Sans FB Demi" panose="020E0802020502020306" pitchFamily="34" charset="0"/>
              </a:rPr>
              <a:t>Guided by:</a:t>
            </a:r>
          </a:p>
          <a:p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.D. Beulah David</a:t>
            </a:r>
            <a:endParaRPr lang="en-IN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0972D7-5DE5-F96C-1A70-B42A96E1954A}"/>
              </a:ext>
            </a:extLst>
          </p:cNvPr>
          <p:cNvSpPr txBox="1"/>
          <p:nvPr/>
        </p:nvSpPr>
        <p:spPr>
          <a:xfrm>
            <a:off x="1705356" y="3319272"/>
            <a:ext cx="8823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CSA1603 - DATA WAREHOUSING AND DATA MINING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357436E-DA12-B1EF-A8BD-E2390B9CE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526056"/>
              </p:ext>
            </p:extLst>
          </p:nvPr>
        </p:nvGraphicFramePr>
        <p:xfrm>
          <a:off x="8413328" y="4938388"/>
          <a:ext cx="3547023" cy="14749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4544">
                  <a:extLst>
                    <a:ext uri="{9D8B030D-6E8A-4147-A177-3AD203B41FA5}">
                      <a16:colId xmlns:a16="http://schemas.microsoft.com/office/drawing/2014/main" val="3682593977"/>
                    </a:ext>
                  </a:extLst>
                </a:gridCol>
                <a:gridCol w="1962479">
                  <a:extLst>
                    <a:ext uri="{9D8B030D-6E8A-4147-A177-3AD203B41FA5}">
                      <a16:colId xmlns:a16="http://schemas.microsoft.com/office/drawing/2014/main" val="398901838"/>
                    </a:ext>
                  </a:extLst>
                </a:gridCol>
              </a:tblGrid>
              <a:tr h="3624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192511072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Yuvan Shankar L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019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192325047</a:t>
                      </a:r>
                      <a:endParaRPr lang="en-US" sz="16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Yeshwanth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</a:t>
                      </a:r>
                      <a:r>
                        <a:rPr lang="en-US" sz="1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610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192565037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Muthupandi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623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192525059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Musturi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Balaji M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244775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AFC5B0-F363-E1C5-FCB2-96F7FAE11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96835"/>
              </p:ext>
            </p:extLst>
          </p:nvPr>
        </p:nvGraphicFramePr>
        <p:xfrm>
          <a:off x="838200" y="2449550"/>
          <a:ext cx="10515600" cy="9448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260188233"/>
                    </a:ext>
                  </a:extLst>
                </a:gridCol>
              </a:tblGrid>
              <a:tr h="938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latin typeface="Berlin Sans FB" panose="020E0602020502020306" pitchFamily="34" charset="0"/>
                        </a:rPr>
                        <a:t>A Cyber Threat Intelligence Warehouse using Graph-Based Pattern Mining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3669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63DA5-6590-750D-D02F-6BEB2A23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5715B-0447-73A3-303A-1FF106AC5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03EE4-51E8-CAF5-5185-A860FD9C0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Autofit/>
          </a:bodyPr>
          <a:lstStyle/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lvl="1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ETL</a:t>
            </a:r>
          </a:p>
          <a:p>
            <a:pPr lvl="1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Threat Data Warehouse</a:t>
            </a:r>
          </a:p>
          <a:p>
            <a:pPr lvl="1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Pattern Mining</a:t>
            </a:r>
          </a:p>
          <a:p>
            <a:pPr lvl="1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Intelligence Dashboard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Workflow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Applications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E06ECD-2528-6EE1-AB15-307AC0D5328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777" y="52679"/>
            <a:ext cx="937898" cy="994079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183885-3BE6-CBB1-6360-7B5337CFE1D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28" y="52679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557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A60D5-EC62-4B1B-8169-FB277D2B0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DB51E-CE7A-2B69-185E-675AE856E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teams collect a large amount of data from different sources such as network logs, malware reports, IP addresses, domains, and threat feeds.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information is often stored separately, which makes it difficult to understand how different threats are connected.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brings these different types of cyber threat data together in one centralized Cyber Threat Intelligence Warehouse.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graph-based pattern mining to find relationships between threats, attackers, malware, vulnerabilities, IP addresses, and domains.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identify hidden or repeated attack patterns that may be difficult to notice through normal data analysis.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Threat Intelligence Dashboard presents the findings in a simple and easy-to-understand way.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aim is to help security teams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threats faster and make better cybersecurity decisions.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9DA898-47B8-7D66-56A8-0E856DDDE7C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777" y="52679"/>
            <a:ext cx="937898" cy="994079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989D25-294B-7EB1-D433-AAD18FBD522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28" y="52679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3739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56899-A22F-801B-5F28-5B6476DB9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83C3D-41E3-FA6B-9E57-3C284C6FE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92C71-301B-72D9-AAEA-6B0A60D32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threat data comes from many different sources and is often stored in separate systems.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teams may find it difficult to connect related information from logs, threat feeds, malware reports, IP addresses, and domains.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analysis methods may miss hidden relationships between different threat indicators.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attack patterns can be difficult to identify when large amounts of data are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manually.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proper data correlation can increase the time needed to investigate security incidents.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system is needed to combine threat data and identify meaningful relationships automatically.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this project proposes a Cyber Threat Intelligence Warehouse using Graph-Based Pattern Mining to improve threat correlation and pattern discovery.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F5B681-447A-F7EA-F24E-92859907BB9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777" y="52679"/>
            <a:ext cx="937898" cy="994079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6C1B29-F9E4-9BC8-EEA6-21F0DCD05A8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28" y="52679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318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BBF19-FF90-D83E-EFEE-E60811C4C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BC8F1-7437-6963-5347-5562A251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95F17-EAE1-54A5-7095-DF0347702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cyber threat information from multiple sources into one system.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clean, organize, and transform the collected data using ETL processes.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the processed threat information in a centralized Cyber Threat Data Warehouse.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represent relationships between threat entities using a graph-based model.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hidden, repeated, and meaningful attack patterns using Graph-Based Pattern Mining.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easy-to-understand Threat Intelligence Dashboard for security analysis.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security teams investigate threats faster and make better decisions.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7E96F5-EC03-A96B-081F-892E92BF82C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777" y="52679"/>
            <a:ext cx="937898" cy="994079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E76F5D-A277-8D31-4417-78C510AF12C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28" y="52679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9484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3D59C-370F-7854-D2A7-1C3E2CED4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98664-AD37-54F3-98E9-62DC1ED47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728DD3-05E8-8E7E-262D-5597B29B65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6782849"/>
              </p:ext>
            </p:extLst>
          </p:nvPr>
        </p:nvGraphicFramePr>
        <p:xfrm>
          <a:off x="484632" y="1690688"/>
          <a:ext cx="11237980" cy="45912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47596">
                  <a:extLst>
                    <a:ext uri="{9D8B030D-6E8A-4147-A177-3AD203B41FA5}">
                      <a16:colId xmlns:a16="http://schemas.microsoft.com/office/drawing/2014/main" val="914743158"/>
                    </a:ext>
                  </a:extLst>
                </a:gridCol>
                <a:gridCol w="2247596">
                  <a:extLst>
                    <a:ext uri="{9D8B030D-6E8A-4147-A177-3AD203B41FA5}">
                      <a16:colId xmlns:a16="http://schemas.microsoft.com/office/drawing/2014/main" val="767226712"/>
                    </a:ext>
                  </a:extLst>
                </a:gridCol>
                <a:gridCol w="2247596">
                  <a:extLst>
                    <a:ext uri="{9D8B030D-6E8A-4147-A177-3AD203B41FA5}">
                      <a16:colId xmlns:a16="http://schemas.microsoft.com/office/drawing/2014/main" val="2447637770"/>
                    </a:ext>
                  </a:extLst>
                </a:gridCol>
                <a:gridCol w="2247596">
                  <a:extLst>
                    <a:ext uri="{9D8B030D-6E8A-4147-A177-3AD203B41FA5}">
                      <a16:colId xmlns:a16="http://schemas.microsoft.com/office/drawing/2014/main" val="936624726"/>
                    </a:ext>
                  </a:extLst>
                </a:gridCol>
                <a:gridCol w="2247596">
                  <a:extLst>
                    <a:ext uri="{9D8B030D-6E8A-4147-A177-3AD203B41FA5}">
                      <a16:colId xmlns:a16="http://schemas.microsoft.com/office/drawing/2014/main" val="472127689"/>
                    </a:ext>
                  </a:extLst>
                </a:gridCol>
              </a:tblGrid>
              <a:tr h="29950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Year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Author / Study Area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Method / Technology Used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Key Findings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Research Gap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2137303"/>
                  </a:ext>
                </a:extLst>
              </a:tr>
              <a:tr h="8583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2022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Cyber Threat Intelligence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Threat intelligence collection and correlation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Improved the organization and analysis of threat information from multiple sources.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Limited relationship analysis between different threat entities.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17613203"/>
                  </a:ext>
                </a:extLst>
              </a:tr>
              <a:tr h="8583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2023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Cyber Threat Data Integration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Data integration and centralized storage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Showed that combining security data can improve threat investigation.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Different data formats and sources remain difficult to integrate.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36358871"/>
                  </a:ext>
                </a:extLst>
              </a:tr>
              <a:tr h="8583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2024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Graph-Based Threat Analysis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Graph databases and relationship analysis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Graphs helped represent connections between attackers, malware, IPs, and domains.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More work is needed to automatically discover complex attack patterns.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78194227"/>
                  </a:ext>
                </a:extLst>
              </a:tr>
              <a:tr h="8583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2025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Automated Threat Pattern Detection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Pattern mining and graph analytics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Automated analysis helped identify repeated and suspicious relationships.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Many approaches focus on specific datasets rather than a unified warehouse.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74598566"/>
                  </a:ext>
                </a:extLst>
              </a:tr>
              <a:tr h="8583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2026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Integrated Cyber Threat Intelligence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Data warehouse + graph analysis + visualization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Integrated platforms can support faster threat investigation and better visualization.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There is still a need for a simple end-to-end system combining all these components.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497728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DDB8807A-9CCF-855B-033B-A57BE382215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777" y="52679"/>
            <a:ext cx="937898" cy="994079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AC1161-C545-C215-1A89-33670E26C11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28" y="52679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9521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F6FC6-067A-4BA9-1062-89D2A321C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5164E-9BAF-AC77-72E6-AA154D9A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B01AF-559A-F5BA-57D6-DF15CFA4C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48" y="1450721"/>
            <a:ext cx="10515600" cy="4351338"/>
          </a:xfrm>
        </p:spPr>
        <p:txBody>
          <a:bodyPr>
            <a:noAutofit/>
          </a:bodyPr>
          <a:lstStyle/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 cyber threat data such as IP addresses, domains, malware information, vulnerabilities, attack events, and threat indicators.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 the collected data, remove duplicate or incomplete records, and convert the data into a common format.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Process: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 data from different sources, transform it into a useful structure, and load it into the threat intelligence warehouse.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the processed data in a centralized warehouse so that historical threat information can be easily accessed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Construction: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nodes for threat entities and edges to show relationships between them.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Mining: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graph to find repeated attack paths, suspicious connections, and hidden threat patterns.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the identified threats and relationships through charts, graphs, and interactive visualizations.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Analysis: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the generated information to support faster investigation and better cybersecurity decision-making.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EDE242-A6EC-507A-EA18-A99238F063F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777" y="52679"/>
            <a:ext cx="937898" cy="994079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0050C7-F2AD-5A82-AA00-2C2878410F6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28" y="52679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1366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E19D7-08FB-F54E-A9FB-03C874C63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39C74-BBAD-DEB2-8F3F-6AAB644A2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SYSTEM ARCHITECTURE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681BBD-D989-6C6B-D22A-E9BDA87A98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9147432"/>
              </p:ext>
            </p:extLst>
          </p:nvPr>
        </p:nvGraphicFramePr>
        <p:xfrm>
          <a:off x="521208" y="1435608"/>
          <a:ext cx="11173968" cy="53138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173968">
                  <a:extLst>
                    <a:ext uri="{9D8B030D-6E8A-4147-A177-3AD203B41FA5}">
                      <a16:colId xmlns:a16="http://schemas.microsoft.com/office/drawing/2014/main" val="3108589009"/>
                    </a:ext>
                  </a:extLst>
                </a:gridCol>
              </a:tblGrid>
              <a:tr h="5420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1. CYBER THREAT DATA SOURCES</a:t>
                      </a:r>
                      <a:endParaRPr lang="en-IN" sz="12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Threat feeds • Network logs • Malware reports • IPs • Domains • Vulnerabilities</a:t>
                      </a:r>
                      <a:endParaRPr lang="en-IN" sz="12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728" marR="87728" marT="43864" marB="43864" anchor="ctr"/>
                </a:tc>
                <a:extLst>
                  <a:ext uri="{0D108BD9-81ED-4DB2-BD59-A6C34878D82A}">
                    <a16:rowId xmlns:a16="http://schemas.microsoft.com/office/drawing/2014/main" val="4276342652"/>
                  </a:ext>
                </a:extLst>
              </a:tr>
              <a:tr h="3128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↓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728" marR="87728" marT="43864" marB="43864" anchor="ctr"/>
                </a:tc>
                <a:extLst>
                  <a:ext uri="{0D108BD9-81ED-4DB2-BD59-A6C34878D82A}">
                    <a16:rowId xmlns:a16="http://schemas.microsoft.com/office/drawing/2014/main" val="3870727870"/>
                  </a:ext>
                </a:extLst>
              </a:tr>
              <a:tr h="5420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2. DATA COLLECTION &amp; ETL</a:t>
                      </a:r>
                      <a:endParaRPr lang="en-IN" sz="12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Collect • Clean • Remove duplicates • Transform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728" marR="87728" marT="43864" marB="43864" anchor="ctr"/>
                </a:tc>
                <a:extLst>
                  <a:ext uri="{0D108BD9-81ED-4DB2-BD59-A6C34878D82A}">
                    <a16:rowId xmlns:a16="http://schemas.microsoft.com/office/drawing/2014/main" val="3156693811"/>
                  </a:ext>
                </a:extLst>
              </a:tr>
              <a:tr h="3128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↓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728" marR="87728" marT="43864" marB="43864" anchor="ctr"/>
                </a:tc>
                <a:extLst>
                  <a:ext uri="{0D108BD9-81ED-4DB2-BD59-A6C34878D82A}">
                    <a16:rowId xmlns:a16="http://schemas.microsoft.com/office/drawing/2014/main" val="2321795625"/>
                  </a:ext>
                </a:extLst>
              </a:tr>
              <a:tr h="5420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3. CYBER THREAT DATA WAREHOUSE</a:t>
                      </a:r>
                      <a:endParaRPr lang="en-IN" sz="12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Store • Organize • Maintain historical threat data</a:t>
                      </a:r>
                      <a:endParaRPr lang="en-IN" sz="12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728" marR="87728" marT="43864" marB="43864" anchor="ctr"/>
                </a:tc>
                <a:extLst>
                  <a:ext uri="{0D108BD9-81ED-4DB2-BD59-A6C34878D82A}">
                    <a16:rowId xmlns:a16="http://schemas.microsoft.com/office/drawing/2014/main" val="4054094543"/>
                  </a:ext>
                </a:extLst>
              </a:tr>
              <a:tr h="3128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↓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728" marR="87728" marT="43864" marB="43864" anchor="ctr"/>
                </a:tc>
                <a:extLst>
                  <a:ext uri="{0D108BD9-81ED-4DB2-BD59-A6C34878D82A}">
                    <a16:rowId xmlns:a16="http://schemas.microsoft.com/office/drawing/2014/main" val="760638328"/>
                  </a:ext>
                </a:extLst>
              </a:tr>
              <a:tr h="5420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4. GRAPH-BASED PATTERN MINING</a:t>
                      </a:r>
                      <a:endParaRPr lang="en-IN" sz="12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Connect threat entities • Find hidden and repeated patterns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728" marR="87728" marT="43864" marB="43864" anchor="ctr"/>
                </a:tc>
                <a:extLst>
                  <a:ext uri="{0D108BD9-81ED-4DB2-BD59-A6C34878D82A}">
                    <a16:rowId xmlns:a16="http://schemas.microsoft.com/office/drawing/2014/main" val="959082120"/>
                  </a:ext>
                </a:extLst>
              </a:tr>
              <a:tr h="3128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↓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728" marR="87728" marT="43864" marB="43864" anchor="ctr"/>
                </a:tc>
                <a:extLst>
                  <a:ext uri="{0D108BD9-81ED-4DB2-BD59-A6C34878D82A}">
                    <a16:rowId xmlns:a16="http://schemas.microsoft.com/office/drawing/2014/main" val="2556347238"/>
                  </a:ext>
                </a:extLst>
              </a:tr>
              <a:tr h="5420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5. THREAT INTELLIGENCE DASHBOARD</a:t>
                      </a:r>
                      <a:endParaRPr lang="en-IN" sz="12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Show threat details • Relationships • Charts and graphs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728" marR="87728" marT="43864" marB="43864" anchor="ctr"/>
                </a:tc>
                <a:extLst>
                  <a:ext uri="{0D108BD9-81ED-4DB2-BD59-A6C34878D82A}">
                    <a16:rowId xmlns:a16="http://schemas.microsoft.com/office/drawing/2014/main" val="2584789454"/>
                  </a:ext>
                </a:extLst>
              </a:tr>
              <a:tr h="3128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↓</a:t>
                      </a:r>
                      <a:endParaRPr lang="en-IN" sz="120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728" marR="87728" marT="43864" marB="43864" anchor="ctr"/>
                </a:tc>
                <a:extLst>
                  <a:ext uri="{0D108BD9-81ED-4DB2-BD59-A6C34878D82A}">
                    <a16:rowId xmlns:a16="http://schemas.microsoft.com/office/drawing/2014/main" val="3789556399"/>
                  </a:ext>
                </a:extLst>
              </a:tr>
              <a:tr h="5420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6. SECURITY ANALYSIS</a:t>
                      </a:r>
                      <a:endParaRPr lang="en-IN" sz="12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Understand threats • Support investigation • Better decisions</a:t>
                      </a:r>
                      <a:endParaRPr lang="en-IN" sz="1200" dirty="0"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87728" marR="87728" marT="43864" marB="43864" anchor="ctr"/>
                </a:tc>
                <a:extLst>
                  <a:ext uri="{0D108BD9-81ED-4DB2-BD59-A6C34878D82A}">
                    <a16:rowId xmlns:a16="http://schemas.microsoft.com/office/drawing/2014/main" val="81325392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CA06F884-685D-5A72-F85A-24C61B6CAEA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777" y="52679"/>
            <a:ext cx="937898" cy="994079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3CF0AF-69F6-DE26-2402-5376AAB7FFA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28" y="52679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9814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8F107-062D-BC95-1DF5-993DBEE9D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88CEF-C08C-4D8F-1414-F33620FAC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Modules-1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/>
              <a:t>DATA COLLECTION &amp; ETL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2C84F-9E44-C23F-2FE1-DCF94E4F6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cyber threat data from different sources such as logs, threat feeds, IP addresses, domains, and malware reports.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useful information from the collected sources.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duplicate, incomplete, and unnecessary records.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data into a common and usable format.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 the cleaned data into the Cyber Threat Data Warehouse.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reliable and organized data for further threat analysis.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AB4272-5F1A-D730-B745-191E90F6CF6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777" y="52679"/>
            <a:ext cx="937898" cy="994079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95513A-65C8-A9E9-79AA-06DAA7B29C5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28" y="52679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2534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89F2A-859F-75C6-576F-CFF59005E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1A8EE-B683-8D7F-C8CF-81F74F71D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Modules-2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/>
              <a:t>CYBER THREAT DATA WAREHOUSE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7E9AF-8D5A-0309-83AD-3D8CDB919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all the cleaned and processed cyber threat data in one centralized system.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information such as IP addresses, domains, malware, vulnerabilities, and attack events.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historical threat data for future analysis and comparison.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it easier to search, manage, and access large amounts of threat information.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data from different sources to provide a complete view of cyber threats.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required data for graph analysis and pattern mining.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19BB86-971B-364C-6AED-82905E9E0D6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777" y="52679"/>
            <a:ext cx="937898" cy="994079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F497CB-D96A-5649-C070-2B7AC7EA322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28" y="52679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100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4CB00-936D-7AC6-406A-199CE6570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0C928-29B3-E169-B5B4-8F12E144E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Modules-3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/>
              <a:t>GRAPH-BASED PATTERN MINING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07A04-FBE2-A82D-60CC-ED8CBEBD1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cyber threat information into a graph of connected entities.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entities such as IP addresses, domains, malware, vulnerabilities, and attackers as nodes.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connections between these entities as edges.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repeated relationships and suspicious connections in the threat data.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common attack paths and hidden threat patterns.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complex relationships easier for security analysts to understand.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faster detection and investigation of related cyber threats.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F57856-9EFE-1111-24EC-364689C069D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777" y="52679"/>
            <a:ext cx="937898" cy="994079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539406-8AFD-7739-52C1-C8B6C6994E0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28" y="52679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5951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5A80E-9D1F-4134-3D6C-B886267F8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4402-8DDA-9287-0949-B856EB46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Modules-4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/>
              <a:t>THREAT INTELLIGENCE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AE0FC-052E-2820-9306-FBB97ED00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Presents important cyber threat information in a simple and clear visual format.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threat indicators such as IP addresses, domains, malware, and vulnerabilities.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relationships between different threat entities using graphs and charts.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suspicious patterns and frequently connected threats.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security analysts quickly understand ongoing and related threats.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threat investigation easier through a centralized view.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faster and better cybersecurity decision-making.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ADA4E2-0835-88ED-454E-3786F2E47D5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777" y="52679"/>
            <a:ext cx="937898" cy="994079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17F84A-96F2-4FDB-A3D3-0DE0D1DB82D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28" y="52679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9868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2F5A3-97FF-7300-67BB-18C8C77E2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6B836-2768-8BC1-D923-020A90CE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B166C-CF13-F810-212F-C85433D6C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data processing, ETL, graph analysis, and pattern mining.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store and manage structured cyber threat data.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Neo4j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represent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relationships between threat entities as a graph.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cleaning, transforming, and preparing threat data.</a:t>
            </a:r>
          </a:p>
          <a:p>
            <a:pPr lvl="0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graph creation and relationship analysis.</a:t>
            </a:r>
          </a:p>
          <a:p>
            <a:pPr lvl="0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Power BI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create the Threat Intelligence Dashboard.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development, testing,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results.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AB6C14-F361-E9B3-691E-3DA27AEE818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777" y="52679"/>
            <a:ext cx="937898" cy="994079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9BF1E7-B544-D009-6A3A-E5D4F44E454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28" y="52679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3768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86855-5D64-5847-44B9-1D9DDE0D6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3A511-2389-1AD8-E363-729EDA6D2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IMPLEMENTATION &amp;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823B0-AFF5-9262-F62D-0535844C6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– Data Collection: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Gather cyber threat data from different sources.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– ETL Processing: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Clean, transform, and prepare the collected data.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– Data Storage: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the processed information in the Cyber Threat Data Warehouse.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– Graph Creation: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the stored threat data into connected nodes and relationships.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– Pattern Mining: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graph to find repeated, hidden, and suspicious threat patterns.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 – Dashboard: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using charts, graphs, and threat relationships.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 – Threat Analysis: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the results to understand threats and support faster security investigation.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8B096D-E17F-4C8E-FF91-15935D9BCF7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777" y="52679"/>
            <a:ext cx="937898" cy="994079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2B73E2-B116-5308-B723-4D41A2568A5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28" y="52679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6701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32F75-3532-4190-09BA-08D287849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92F51-3376-205E-98D7-2AEBEE668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A4F57-CC46-DDB5-B13B-3E0D3515A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expected to bring threat data from different sources into one organized platform.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ETL should reduce duplicate and unnecessary information.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warehouse should make historical cyber threat data easier to store and access.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analysis should reveal connections between different threat entities.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mining should help identify repeated and suspicious attack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should make complex threat information easier to understand.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should help security teams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threats faster and improve threat investigation.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02D383-AFC3-8F93-909D-F073A945F3B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777" y="52679"/>
            <a:ext cx="937898" cy="994079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2FBA55-3AE6-CD93-D6BF-51A31E9D707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28" y="52679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5587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3C1D4-1206-B0E3-BA86-16577742C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3DBBA-69FE-88AF-8EDA-66A77BF60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ADVANTAGES &amp;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2DFCE-0500-D566-1491-25AA094CA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Brings threat information from different sources into one system.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relationships between threats easier to understand.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hidden and repeated attack patterns.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time needed for threat investigation.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clear visual view of complex security data.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Operations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(SOC) for monitoring and investigation.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 Response for understanding attack relationships.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Hunting for finding suspicious connections.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Malware Analysis for linking malware with related indicators.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Research for studying emerging attack patterns.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FBD9E8-A8CE-7377-9338-67927B1E20F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777" y="52679"/>
            <a:ext cx="937898" cy="994079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527BE3-7258-8184-7973-3F2D30EC0A9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28" y="52679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1236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0BC1F-6B46-2F3C-8F40-3F9B7DC7C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AAF2-9E8E-83B2-4535-19CE7C877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9244E-8A4E-3C23-ECF6-6C481910D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brings different cyber threat data sources together into a centralized platform.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Collection &amp; ETL module prepares clean and useful threat data for analysis.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Cyber Threat Data Warehouse keeps the processed data organized and available for future investigation.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Pattern Mining helps discover relationships, repeated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hidden attack patterns.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Threat Intelligence Dashboard presents the findings in a simple and easy-to-understand way.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can help security teams connect threat information, investigate incidents faster, and make better security decisions.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0E5B8A-99E9-735F-B812-F11208CF817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777" y="52679"/>
            <a:ext cx="937898" cy="994079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740611-B6AE-D739-A88C-A84365E7D4C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28" y="52679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7753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C65FE-A6A5-DABF-5088-060DC3EAF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8AF9-2591-311E-DEBB-0C37A33AC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FUTURE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3AE94-1F84-BC2C-4A33-2D0E122BC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real-time threat data collection from live security feeds.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machine learning techniques to improve suspicious pattern detection.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automatic threat alerts when unusual relationships or attack patterns are found.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dashboard with real-time graphs, filters, and interactive visualizations.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more threat intelligence sources to increase the coverage of the system.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support for large-scale graph processing to handle bigger cybersecurity datasets.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more advanced system that can help predict possible future attack patterns.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873B3A-184F-2634-EE6D-3B23A555724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777" y="52679"/>
            <a:ext cx="937898" cy="994079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75B6F6-8C3C-ED88-9F13-D3EA84FD311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28" y="52679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8854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58B65-F7FE-EE06-4232-ED4BA7A2F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FFBD0-8655-0ED0-6A5B-BFB443C2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746A4-AE01-C43A-64C9-E98DF10F6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IN" sz="2000" dirty="0"/>
              <a:t>MITRE ATT&amp;CK – Enterprise Attack Framework and Techniques.</a:t>
            </a:r>
          </a:p>
          <a:p>
            <a:pPr lvl="0"/>
            <a:r>
              <a:rPr lang="en-IN" sz="2000" dirty="0"/>
              <a:t>NIST Cybersecurity Framework – Cybersecurity best practices and guidance.</a:t>
            </a:r>
          </a:p>
          <a:p>
            <a:pPr lvl="0"/>
            <a:r>
              <a:rPr lang="en-IN" sz="2000" dirty="0"/>
              <a:t>STIX 2.1 – Structured Threat Information Expression.</a:t>
            </a:r>
          </a:p>
          <a:p>
            <a:pPr lvl="0"/>
            <a:r>
              <a:rPr lang="en-IN" sz="2000" dirty="0"/>
              <a:t>TAXII 2.1 – Trusted Automated Exchange of Indicator Information.</a:t>
            </a:r>
          </a:p>
          <a:p>
            <a:pPr lvl="0"/>
            <a:r>
              <a:rPr lang="en-IN" sz="2000" dirty="0"/>
              <a:t>MISP – Malware Information Sharing Platform and threat intelligence sharing.</a:t>
            </a:r>
          </a:p>
          <a:p>
            <a:pPr lvl="0"/>
            <a:r>
              <a:rPr lang="en-IN" sz="2000" dirty="0"/>
              <a:t>Neo4j Documentation – Graph databases and graph data analysis.</a:t>
            </a:r>
          </a:p>
          <a:p>
            <a:pPr lvl="0"/>
            <a:r>
              <a:rPr lang="en-IN" sz="2000" dirty="0"/>
              <a:t>Python Documentation – Data processing and analysis tools.</a:t>
            </a:r>
          </a:p>
          <a:p>
            <a:pPr lvl="0"/>
            <a:r>
              <a:rPr lang="en-IN" sz="2000" dirty="0"/>
              <a:t>Kaggle – Cybersecurity and threat intelligence datasets.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8F15CD-FCC9-8EFB-1444-DAC6CAE0697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777" y="52679"/>
            <a:ext cx="937898" cy="994079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3A6B74-88CB-27D2-3309-EA0E11439CF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28" y="52679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2577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9E6DC-DF39-3354-14D1-FD8637188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3977C-C811-92A9-E1DF-D58ED431F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IN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48BB5E-EECA-4B9C-B280-C4EC3A295F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186" y="1469009"/>
            <a:ext cx="6145019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251771-268C-EFA8-32CC-2CA05720711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777" y="52679"/>
            <a:ext cx="937898" cy="994079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3C68F6-9A62-AF79-DD53-BB41A60A100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28" y="52679"/>
            <a:ext cx="1124495" cy="994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753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1868</Words>
  <Application>Microsoft Office PowerPoint</Application>
  <PresentationFormat>Widescreen</PresentationFormat>
  <Paragraphs>209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Aptos Display</vt:lpstr>
      <vt:lpstr>Arial</vt:lpstr>
      <vt:lpstr>Berlin Sans FB</vt:lpstr>
      <vt:lpstr>Berlin Sans FB Demi</vt:lpstr>
      <vt:lpstr>Britannic Bold</vt:lpstr>
      <vt:lpstr>Times New Roman</vt:lpstr>
      <vt:lpstr>Office Theme</vt:lpstr>
      <vt:lpstr>PowerPoint Presentation</vt:lpstr>
      <vt:lpstr>AGENDA</vt:lpstr>
      <vt:lpstr>INTRODUCTION</vt:lpstr>
      <vt:lpstr>PROBLEM STATEMENT</vt:lpstr>
      <vt:lpstr>OBJECTIVES</vt:lpstr>
      <vt:lpstr>LITERATURE REVIEW</vt:lpstr>
      <vt:lpstr>PROPOSED METHODOLOGY</vt:lpstr>
      <vt:lpstr>SYSTEM ARCHITECTURE</vt:lpstr>
      <vt:lpstr>Modules-1 DATA COLLECTION &amp; ETL</vt:lpstr>
      <vt:lpstr>Modules-2 CYBER THREAT DATA WAREHOUSE</vt:lpstr>
      <vt:lpstr>Modules-3 GRAPH-BASED PATTERN MINING</vt:lpstr>
      <vt:lpstr>Modules-4 THREAT INTELLIGENCE DASHBOARD</vt:lpstr>
      <vt:lpstr>TECHNOLOGIES USED</vt:lpstr>
      <vt:lpstr>IMPLEMENTATION &amp; WORKFLOW</vt:lpstr>
      <vt:lpstr>RESULTS</vt:lpstr>
      <vt:lpstr>ADVANTAGES &amp; APPLICATIONS</vt:lpstr>
      <vt:lpstr>CONCLUSION</vt:lpstr>
      <vt:lpstr>FUTURE ENHANCEMENT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MUTHU PANDI C</dc:creator>
  <cp:lastModifiedBy>MUTHU PANDI C</cp:lastModifiedBy>
  <cp:revision>1</cp:revision>
  <dcterms:created xsi:type="dcterms:W3CDTF">2026-08-13T03:18:10Z</dcterms:created>
  <dcterms:modified xsi:type="dcterms:W3CDTF">2026-08-13T05:44:53Z</dcterms:modified>
</cp:coreProperties>
</file>